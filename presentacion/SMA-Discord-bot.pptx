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3657600" cy="3657600"/>
          </a:xfrm>
          <a:prstGeom prst="ellipse">
            <a:avLst/>
          </a:prstGeom>
          <a:solidFill>
            <a:srgbClr val="5865F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5865F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011680" cy="2011680"/>
          </a:xfrm>
          <a:prstGeom prst="ellipse">
            <a:avLst/>
          </a:prstGeom>
          <a:solidFill>
            <a:srgbClr val="5865F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05840" cy="100584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 de soporte a la cursada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Discord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conceptual multiagente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Multiagente — ITBA   |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10241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contexto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6824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como ambiente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234086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 arquitectura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99923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A1–A6 (fichas)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928" y="10241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+ Coordinación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1664208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38928" y="16824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 + Memoria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2322576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234086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A · B · C · 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2980944"/>
            <a:ext cx="457200" cy="45720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299923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Autoevaluación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y contexto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" cy="41148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960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es el canal de comunicación de cada cursada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5720" cy="41148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184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mensajes y respuestas 100 % manuales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22576"/>
            <a:ext cx="45720" cy="41148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768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docentes con roles asignados (pre-autorizados)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45720" cy="41148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352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Necesidad: asistente inteligente que apoye sin reemplazar al docente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45720" cy="41148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5935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múltiples materias en paralelo, cada una aislada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0" y="914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Discord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56032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4864" cy="438912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258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#consultas-alumnos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947672"/>
            <a:ext cx="256032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947672"/>
            <a:ext cx="54864" cy="438912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94767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#material-catedra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569464"/>
            <a:ext cx="256032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569464"/>
            <a:ext cx="54864" cy="43891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56946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#alertas-bienestar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3191256"/>
            <a:ext cx="256032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191256"/>
            <a:ext cx="54864" cy="438912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19125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  estudiante-bot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 como ambiente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condiciona qué puede percibirse y qué puede publicarse — no es solo una UI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14630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conceptual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Menciones · comandos · DMs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874520"/>
            <a:ext cx="731520" cy="45720"/>
          </a:xfrm>
          <a:prstGeom prst="rect">
            <a:avLst/>
          </a:prstGeom>
          <a:solidFill>
            <a:srgbClr val="B5BAC1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64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BAC1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1188720"/>
            <a:ext cx="2286000" cy="14630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188720"/>
            <a:ext cx="64008" cy="146304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Agentes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54680" y="17556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 · A3 · A4 · A5 · A6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874520"/>
            <a:ext cx="731520" cy="45720"/>
          </a:xfrm>
          <a:prstGeom prst="rect">
            <a:avLst/>
          </a:prstGeom>
          <a:solidFill>
            <a:srgbClr val="B5BAC1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764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BAC1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1188720"/>
            <a:ext cx="2286000" cy="14630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188720"/>
            <a:ext cx="64008" cy="146304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17556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actuador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Discord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Discord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/ docente / ayudante — pre-autorizados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265176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canal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VIEW_CHANNEL · SEND_MESSAGES · crear hilos (crisis)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65176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público = público   |   DM = privado 1:1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2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canal público = público · DM = privado · no hay excepciones salvo transferencia consentida o crisis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Glosario clave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1430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14300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uso continuo. Cierra por inactividad (30–60 min config.) o cierre de jornada. Puede contener varias conversaciones.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11430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64008" cy="114300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coherente de turnos alrededor de una intención, dentro de un canal o hilo.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931920" cy="11430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66160"/>
            <a:ext cx="64008" cy="114300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91363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intra-sesión (volátil). Coordina el intercambio actual. Se descarta al cerrar la sesión.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3931920" cy="11430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05840"/>
            <a:ext cx="64008" cy="114300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35331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entre sesiones. Hechos pedagógicos mínimos. Vida: cursada + 6 meses.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3931920" cy="11430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286000"/>
            <a:ext cx="64008" cy="114300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263347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= canal / hilo legible por más de uno. dm = interacción privada 1:1 estudiante-bot.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3566160"/>
            <a:ext cx="3931920" cy="11430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566160"/>
            <a:ext cx="64008" cy="114300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assistance_mode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391363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guided_only · refuse_solution — decisión de OutputPolicy para cada respuesta práctica.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Tesis de arquitectura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651760" cy="3474720"/>
          </a:xfrm>
          <a:prstGeom prst="rect">
            <a:avLst/>
          </a:prstGeom>
          <a:solidFill>
            <a:srgbClr val="31333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2651760" cy="10972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identidad en Discord.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en cada servidor de materia.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3474720"/>
          </a:xfrm>
          <a:prstGeom prst="rect">
            <a:avLst/>
          </a:prstGeom>
          <a:solidFill>
            <a:srgbClr val="31333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822960"/>
            <a:ext cx="2651760" cy="109728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005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agentes lógicos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 por responsabilidad,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parámetrizados por subject_id.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822960"/>
            <a:ext cx="2651760" cy="3474720"/>
          </a:xfrm>
          <a:prstGeom prst="rect">
            <a:avLst/>
          </a:prstGeom>
          <a:solidFill>
            <a:srgbClr val="31333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822960"/>
            <a:ext cx="2651760" cy="109728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005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A6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determinista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· políticas · envío · crisis: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auditables, sin autonomía.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invariantes difíciles (privacidad · modo de ayuda · crisis · envío) viven en infraestructura, no en agentes.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 panorámica del sistema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16459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2606040" cy="73152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43000"/>
            <a:ext cx="585216" cy="585216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161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Frontier / Coordinador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· clasifica · deriva · ensambla · reconduce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960120"/>
            <a:ext cx="2606040" cy="16459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960120"/>
            <a:ext cx="2606040" cy="73152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1143000"/>
            <a:ext cx="585216" cy="585216"/>
          </a:xfrm>
          <a:prstGeom prst="ellipse">
            <a:avLst/>
          </a:prstGeom>
          <a:solidFill>
            <a:srgbClr val="57F287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143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161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práctica · código · quiz · orientación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2606040" cy="16459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960120"/>
            <a:ext cx="2606040" cy="73152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27064" y="1143000"/>
            <a:ext cx="585216" cy="585216"/>
          </a:xfrm>
          <a:prstGeom prst="ellipse">
            <a:avLst/>
          </a:prstGeom>
          <a:solidFill>
            <a:srgbClr val="FEE75C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1143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9712" y="1161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1737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· reglas publicadas · derivación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70632"/>
            <a:ext cx="2606040" cy="16459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70632"/>
            <a:ext cx="2606040" cy="73152"/>
          </a:xfrm>
          <a:prstGeom prst="rect">
            <a:avLst/>
          </a:prstGeom>
          <a:solidFill>
            <a:srgbClr val="EB459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53512"/>
            <a:ext cx="585216" cy="585216"/>
          </a:xfrm>
          <a:prstGeom prst="ellipse">
            <a:avLst/>
          </a:prstGeom>
          <a:solidFill>
            <a:srgbClr val="EB459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953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07008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45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35478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proactivo por DM (2–5 días post-sesión)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73552" y="2770632"/>
            <a:ext cx="2606040" cy="16459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2770632"/>
            <a:ext cx="2606040" cy="73152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29" name="Shape 27"/>
          <p:cNvSpPr/>
          <p:nvPr/>
        </p:nvSpPr>
        <p:spPr>
          <a:xfrm>
            <a:off x="3410712" y="2953512"/>
            <a:ext cx="585216" cy="585216"/>
          </a:xfrm>
          <a:prstGeom prst="ellipse">
            <a:avLst/>
          </a:prstGeom>
          <a:solidFill>
            <a:srgbClr val="00B0F4"/>
          </a:solidFill>
          <a:ln/>
        </p:spPr>
      </p:sp>
      <p:sp>
        <p:nvSpPr>
          <p:cNvPr id="30" name="Text 28"/>
          <p:cNvSpPr/>
          <p:nvPr/>
        </p:nvSpPr>
        <p:spPr>
          <a:xfrm>
            <a:off x="3410712" y="2953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5478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voluntario · moderación · digest docente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9904" y="2770632"/>
            <a:ext cx="2606040" cy="16459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9904" y="2770632"/>
            <a:ext cx="2606040" cy="73152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27064" y="2953512"/>
            <a:ext cx="585216" cy="585216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36" name="Text 34"/>
          <p:cNvSpPr/>
          <p:nvPr/>
        </p:nvSpPr>
        <p:spPr>
          <a:xfrm>
            <a:off x="6227064" y="2953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9712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A6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Curator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35478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docente versionada → KB / Config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383A4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37083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Infraestructura: SubjectRouter · Auth/Role · MemoryStore · SafetyClassifier · InputExtractor · OutputPolicy · Scheduler · OutboundDispatcher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6 agentes y no más/menos?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2918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Muy pocos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(1–2 generales)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Roles solapados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Sin especialización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151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Difícil de escalar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145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Políticas mezcladas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651760" cy="32918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Demasiados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(10+ especializados)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554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Handoffs excesivos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084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Respuestas incoherentes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26151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Coordinación costosa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3145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Más puntos de falla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560320" cy="3291840"/>
          </a:xfrm>
          <a:prstGeom prst="rect">
            <a:avLst/>
          </a:prstGeom>
          <a:solidFill>
            <a:srgbClr val="5865F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9875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Nuestra elección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agentes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lógicos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Responsabilidades claras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273405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Conversación coherente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3227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Invariantes en infra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37216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Degradación aislada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868680" cy="86868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81328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Frontier / Coordinador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658368"/>
            <a:ext cx="1595628" cy="274320"/>
          </a:xfrm>
          <a:prstGeom prst="roundRect">
            <a:avLst>
              <a:gd name="adj" fmla="val 16667"/>
            </a:avLst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6583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+ Social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1548" y="640080"/>
            <a:ext cx="5097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lógico del estudiante. Coordinador del intercambio.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intención en cada turno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SafetyClassifier (frontera de seguridad)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a A2/A3/A5 o ensambla respuestas mixtas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Reconducción educada ante fuera de dominio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crisis de bienestar al protocolo institucional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64008" cy="141732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 · canal · visibilidad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STM: conversation_owner_agent, active_intent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SafetyClassifier · CrisisCaseStore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agentes y reglas de derivación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64008" cy="141732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inventa teoría ni reglas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escribe directamente en Discord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gestiona casos de crisis por sí mismo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0048"/>
            <a:ext cx="64008" cy="141732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(Beliefs · Desires · Intentions)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Cree: contexto saneado + nivel de crisis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respuesta correcta y segura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Hace: deriva, ensambla o escala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868680" cy="868680"/>
          </a:xfrm>
          <a:prstGeom prst="ellipse">
            <a:avLst/>
          </a:prstGeom>
          <a:solidFill>
            <a:srgbClr val="57F2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81328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658368"/>
            <a:ext cx="1595628" cy="274320"/>
          </a:xfrm>
          <a:prstGeom prst="roundRect">
            <a:avLst>
              <a:gd name="adj" fmla="val 16667"/>
            </a:avLst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6583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+ Social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1548" y="640080"/>
            <a:ext cx="5097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pedagógico integrado: teoría, práctica/código y autoevaluación.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teoría con distinto nivel de profundidad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código, detecta errores conceptuales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evalúa quizzes y checklists de estudio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assistance_mode sin entregar soluciones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barrera de crisis si el turno llegó por continuidad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64008" cy="141732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vigente (material pedagógico)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validado por InputExtractor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OutputPolicy → assistance_mode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pedagógica mínima permitida (LTM)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64008" cy="141732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responde fechas oficiales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entrega soluciones evaluables completas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califica ni tramita; no inicia contactos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0048"/>
            <a:ext cx="64008" cy="141732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(Beliefs · Desires · Intentions)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Cree: pedido + fuentes + modo permitido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progreso autónomo del estudiante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Hace: explica, guía o autoevalúa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868680" cy="868680"/>
          </a:xfrm>
          <a:prstGeom prst="ellipse">
            <a:avLst/>
          </a:prstGeom>
          <a:solidFill>
            <a:srgbClr val="FEE7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81328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658368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FEE75C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65836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42032" y="640080"/>
            <a:ext cx="5797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 administrativo: información publicada y derivación de casos.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fechas, modalidad y reglas publicadas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Config Store como única fuente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consta" es una respuesta válida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casos particulares al canal humano designado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64008" cy="141732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Store vigente (fechas, reglas, evaluativas)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humanos designados (bedelía, cátedra, etc.)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64008" cy="141732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decide si un alumno califica para una excepción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gestiona trámites ni valida certificados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contacta proactivamente ni anticipa decisiones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0048"/>
            <a:ext cx="64008" cy="141732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(Beliefs · Desires · Intentions)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Cree: consulta + configuración vigente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exactitud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Hace: cita la regla o deriva al canal humano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868680" cy="868680"/>
          </a:xfrm>
          <a:prstGeom prst="ellipse">
            <a:avLst/>
          </a:prstGeom>
          <a:solidFill>
            <a:srgbClr val="EB459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81328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45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658368"/>
            <a:ext cx="973836" cy="274320"/>
          </a:xfrm>
          <a:prstGeom prst="roundRect">
            <a:avLst>
              <a:gd name="adj" fmla="val 16667"/>
            </a:avLst>
          </a:prstGeom>
          <a:solidFill>
            <a:srgbClr val="EB459E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658368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19756" y="640080"/>
            <a:ext cx="5719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proactivo y acotado por DM.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EB459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oportunidades LTM (duda abierta, quiz, estado stuck)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un único DM suave por contacto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siempre /seguimiento desactivar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entrega o fallo; marca dm_contactable=false si Discord rechaza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64008" cy="1417320"/>
          </a:xfrm>
          <a:prstGeom prst="rect">
            <a:avLst/>
          </a:prstGeom>
          <a:solidFill>
            <a:srgbClr val="EB459E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mínima: tema, duda, estado, quiz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follow_up_enabled (default true) y dm_contactable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+ horarios de silencio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Store (hitos próximos)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64008" cy="1417320"/>
          </a:xfrm>
          <a:prstGeom prst="rect">
            <a:avLst/>
          </a:prstGeom>
          <a:solidFill>
            <a:srgbClr val="EB459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contacta tras opt-out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 canales públicos como fallback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enseña ni da información administrativa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mientras haya caso de crisis activo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0048"/>
            <a:ext cx="64008" cy="1417320"/>
          </a:xfrm>
          <a:prstGeom prst="rect">
            <a:avLst/>
          </a:prstGeom>
          <a:solidFill>
            <a:srgbClr val="EB459E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(Beliefs · Desires · Intentions)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Cree: oportunidades consentidas entregables por DM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continuidad no intrusiva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Hace: envía o pospone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868680" cy="868680"/>
          </a:xfrm>
          <a:prstGeom prst="ellipse">
            <a:avLst/>
          </a:prstGeom>
          <a:solidFill>
            <a:srgbClr val="00B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81328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658368"/>
            <a:ext cx="1595628" cy="274320"/>
          </a:xfrm>
          <a:prstGeom prst="roundRect">
            <a:avLst>
              <a:gd name="adj" fmla="val 16667"/>
            </a:avLst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6583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+ Social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1548" y="640080"/>
            <a:ext cx="5097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escucha voluntario entre estudiantes y cátedra.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/feedback y respuestas voluntarias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en ejes: cursada · material · asistente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Anonimato "anónimo" por defecto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odio/ataques a autoridad designada (no al digest)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digest agregado semanal (muestra mínima)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64008" cy="141732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Store por materia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anonimato y destino docente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docente de digest (solo escribe, no lee canal alumnos)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64008" cy="141732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infiere feedback desde quizzes ni actividad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evaluaciones oficiales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publica detalle privado (DM) en digest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0048"/>
            <a:ext cx="64008" cy="141732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(Beliefs · Desires · Intentions)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Cree: aportes voluntarios + política de agregación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señales útiles para la cátedra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Hace: modera y entrega digest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868680" cy="8686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81328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A6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Curator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658368"/>
            <a:ext cx="1595628" cy="274320"/>
          </a:xfrm>
          <a:prstGeom prst="roundRect">
            <a:avLst>
              <a:gd name="adj" fmla="val 16667"/>
            </a:avLst>
          </a:prstGeom>
          <a:solidFill>
            <a:srgbClr val="5865F2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6583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+ Social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1548" y="640080"/>
            <a:ext cx="5097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 del conocimiento vivo aportado por la cátedra.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A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content: /incorporar-material → KB Store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config: /actualizar-catedra → Config Store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el pipeline correcto si detecta intención distinta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y difiere conflictos ambiguos a confirmación docente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43000"/>
            <a:ext cx="64008" cy="141732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A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Store y Config Store por materia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docente/ayudante autorizado (Auth/Role Check)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versionado y vigencia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64008" cy="141732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A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 corrección académica del contenido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KB/Config de otra materia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lee canales de estudiantes ni procesa DMs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0048"/>
            <a:ext cx="3931920" cy="141732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0048"/>
            <a:ext cx="64008" cy="141732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A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(Beliefs · Desires · Intentions)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08152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Cree: aporte recibido + estado vigente de KB/Config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coherencia documental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Hace: versiona o consulta al docente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determinista (no son agentes)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verificables sin autonomía — convertirlas en agentes sumaría coordinación sin valor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3538728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2860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Responsabilidad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Por qué no es agente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SubjectRouter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Resuelve guild_id → subject_id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determinista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/ Role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usuario, rol y permisos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STM, LTM y preferencias por usuario+materia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 reglas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 crisis_level a cada turno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seguridad humana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CrisisCaseStore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Deduplicación de casos y thread_id por user+materia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auditado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CrisisEscalationProtocol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Crea/actualiza hilo privado de crisis para cátedra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institucional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InputExtractor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 bloque/adjunto de código del mensaje 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Transformación de formato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 assistance_mode · valida privacidad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auditable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 A4 entre 2–5 días post-sesión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OutboundDispatcher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Envía mensajes en Discord · registra fallos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Único actuador físico 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Carácter de los agentes: Reactivo · Proactivo · Social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0292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Reactivo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Proactivo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Frontier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Tutor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EE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45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Follow-up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A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Knowledge Curator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017520" cy="34747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0" y="914400"/>
            <a:ext cx="64008" cy="347472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6" name="Text 3"/>
          <p:cNvSpPr/>
          <p:nvPr/>
        </p:nvSpPr>
        <p:spPr>
          <a:xfrm>
            <a:off x="580644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obligatorio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2743200" cy="1097280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408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Admin — Reactivo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68249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contesta reglas cuando recibe consulta. Anticipar decisiones admin podría confundir comunicaciones oficiales.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560320"/>
            <a:ext cx="2743200" cy="1097280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596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Follow-up — Proactivo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8803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contacto 2–5 días post-sesión. El seguimiento exige autonomía. Mantenerlos separados evita que información adquiera iniciativa intrusiva.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Coordinación — Pipeline de 9 pasos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"Sticky con preflight": A1 re-decide intención en cada turno antes de usar continuidad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402336" cy="402336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070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dirigido al bot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606040" cy="54864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234440"/>
            <a:ext cx="402336" cy="402336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22192" y="12070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+ Router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62763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rol, fija subject_id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06040" cy="54864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34440"/>
            <a:ext cx="402336" cy="402336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56832" y="12070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 Frontier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62763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SafetyClassifier + inferir intención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359152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359152"/>
            <a:ext cx="2606040" cy="54864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496312"/>
            <a:ext cx="402336" cy="402336"/>
          </a:xfrm>
          <a:prstGeom prst="ellipse">
            <a:avLst/>
          </a:prstGeom>
          <a:solidFill>
            <a:srgbClr val="ED424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24688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Crisis check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88950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crisis_level → CrisisEscalationProtocol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359152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359152"/>
            <a:ext cx="2606040" cy="54864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2496312"/>
            <a:ext cx="402336" cy="402336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22192" y="24688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Ruteo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288950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o reorquesta a agente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359152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359152"/>
            <a:ext cx="2606040" cy="54864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2496312"/>
            <a:ext cx="402336" cy="402336"/>
          </a:xfrm>
          <a:prstGeom prst="ellipse">
            <a:avLst/>
          </a:prstGeom>
          <a:solidFill>
            <a:srgbClr val="FEE75C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56832" y="24688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OutputPolicy①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288950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assistance_mode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621024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621024"/>
            <a:ext cx="2606040" cy="54864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3758184"/>
            <a:ext cx="402336" cy="402336"/>
          </a:xfrm>
          <a:prstGeom prst="ellipse">
            <a:avLst/>
          </a:prstGeom>
          <a:solidFill>
            <a:srgbClr val="57F287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7552" y="37307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4151376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borrador o decisión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91840" y="3621024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621024"/>
            <a:ext cx="2606040" cy="54864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48" name="Shape 46"/>
          <p:cNvSpPr/>
          <p:nvPr/>
        </p:nvSpPr>
        <p:spPr>
          <a:xfrm>
            <a:off x="3383280" y="3758184"/>
            <a:ext cx="402336" cy="402336"/>
          </a:xfrm>
          <a:prstGeom prst="ellipse">
            <a:avLst/>
          </a:prstGeom>
          <a:solidFill>
            <a:srgbClr val="FEE75C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22192" y="37307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OutputPolicy②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383280" y="4151376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privacidad + restricción pedagóg.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26480" y="3621024"/>
            <a:ext cx="2606040" cy="107899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26480" y="3621024"/>
            <a:ext cx="2606040" cy="54864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7920" y="3758184"/>
            <a:ext cx="402336" cy="402336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55" name="Text 53"/>
          <p:cNvSpPr/>
          <p:nvPr/>
        </p:nvSpPr>
        <p:spPr>
          <a:xfrm>
            <a:off x="621792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56832" y="37307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Dispatcher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217920" y="4151376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bajo identidad única del bot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Ruteo y fuera de dominio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52044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4206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Evento / intent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Primer agente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 · quiz · checklist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A2 → OutputPolicy → Dispatcher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o código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OutputPolicy(modo) → A2 → Dispatcher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de solución evaluable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OutputPolicy(refuse_solution) → A2(guía)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· regla · modalidad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A3 → Dispatcher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mixta (pedagogía + 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A2 + A3 → A1 ensambla → Dispatcher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/feedback del estudiante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A5 → digest docente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de crisis / autolesión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CrisisEscalationProtocol → hilo docente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 de seguimiento (2–5 días)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DM si dm_contactable=true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/incorporar-material (docente)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pipeline content → KB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/actualizar-catedra (docente)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pipeline config → Config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498848"/>
            <a:ext cx="8229600" cy="411480"/>
          </a:xfrm>
          <a:prstGeom prst="rect">
            <a:avLst/>
          </a:prstGeom>
          <a:solidFill>
            <a:srgbClr val="383A4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4498848"/>
            <a:ext cx="64008" cy="41148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451713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dominio → A1 responde de forma educada ("está fuera del dominio del asistente") y orienta al canal docente o instancia humana designada.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 de ayuda práctica — assistance_mode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OutputPolicy decide la postura por respuesta — no vigila cadenas incrementales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9144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618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F2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2331720" cy="384048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no entregable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completa, diagnóstico y próximos pasos. Sin restricción adicional.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06040" cy="32004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606040" cy="9144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E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guided_only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29000" y="1737360"/>
            <a:ext cx="2331720" cy="384048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37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sobre TP activo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2128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error, pista conceptual o próximo paso. Nunca código final ni solución.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06040" cy="32004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06040" cy="91440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618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42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refuse_solution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2331720" cy="384048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737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solución lista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128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breve y guía conceptual mínima. No entrega el trabajo para presentar.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383A4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4988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es por respuesta individual. Conversaciones incrementales ("¿qué hace esta función?" → "¿así está bien?") no se bloquean: ese control queda en criterio docente.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Multi-materia — "1 materia = 1 servidor"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58368"/>
          </a:xfrm>
          <a:prstGeom prst="rect">
            <a:avLst/>
          </a:prstGeom>
          <a:solidFill>
            <a:srgbClr val="5865F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869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 bot · mismos 6 agentes genéricos · subject_id diferente por servidor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14884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C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Partición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C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Escritor / Lector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C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escribe · A2 lee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escribe · A3, A4, OutputPolicy leen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+ materia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· A1/A2/A4 consumen según permiso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Case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+ materia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CrisisEscalationProtocol · docentes cátedra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3931920" cy="86868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977640"/>
            <a:ext cx="64008" cy="86868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069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ambiguo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pregunta la materia antes de derivar. La elección se guarda en STM.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3977640"/>
            <a:ext cx="3931920" cy="86868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977640"/>
            <a:ext cx="64008" cy="86868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4069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aislamiento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46320" y="438912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aporte en Álgebra II nunca toca KB/Config de Programación II.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 entre sesiones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0574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73152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 — intra-sesión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intercambio actual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 en DM, intención activa, conversation_owner_agent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 al cerrar la sesión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usada de forma proactiva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05740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LTM — entre sesiones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38988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y seguimiento pedagógico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Tema/duda (abierta/cerrada), quiz, estado de trabajo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Preferencias: follow_up_enabled, dm_contactable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Vida: cursada + 6 meses; borrable por el estudiante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3931920" cy="80467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27248"/>
            <a:ext cx="64008" cy="80467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182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persiste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Transcripciones crudas · código fuente · señales antifraude multi-turno · datos médicos · certificados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3127248"/>
            <a:ext cx="4114800" cy="16916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127248"/>
            <a:ext cx="64008" cy="169164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estudiante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/mi-historial · /borrar-historial · /restablecer-perfil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/seguimiento desactivar   /seguimiento activar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279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/activar-dm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Seguimiento proactivo — A4 Follow-up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 por default · opt-out disponible · solo por DM · ventana 2–5 días post-sesión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23774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Día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pide quiz de pilas en DM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genera quiz y devolución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→ LTM: tema=pilas, duda=abierta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23774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743200" cy="73152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cierra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Inactividad (~30–60 min)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MemoryStore conserva el hecho mínimo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follow_up_enabled=true, dm_contactable=true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23774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Día 4 (~2–5d)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evalúa oportunidad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redacta DM suave: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"¿Querés retomar pilas? /seguimiento desactivar"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167128"/>
            <a:ext cx="91440" cy="45720"/>
          </a:xfrm>
          <a:prstGeom prst="rect">
            <a:avLst/>
          </a:prstGeom>
          <a:solidFill>
            <a:srgbClr val="B5BAC1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200253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BAC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35040" y="2167128"/>
            <a:ext cx="91440" cy="45720"/>
          </a:xfrm>
          <a:prstGeom prst="rect">
            <a:avLst/>
          </a:prstGeom>
          <a:solidFill>
            <a:srgbClr val="B5BAC1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00253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BAC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2606040" cy="77724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64008" cy="777240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envía o registra fallo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Discord rechaza el DM → dm_contactable=false. Sin fallback público.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3657600"/>
            <a:ext cx="2606040" cy="77724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657600"/>
            <a:ext cx="64008" cy="77724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29000" y="40690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entre contactos · horarios de silencio · un solo tema por mensaje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2606040" cy="77724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657600"/>
            <a:ext cx="64008" cy="777240"/>
          </a:xfrm>
          <a:prstGeom prst="rect">
            <a:avLst/>
          </a:prstGeom>
          <a:solidFill>
            <a:srgbClr val="EB459E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automática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406908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caso de crisis activo o safety_hold_until vigente → A4 se suspende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42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Crisis de bienestar y autolesión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de seguridad humana — actúa antes que cualquier flujo pedagógico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834640" cy="53035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530352"/>
          </a:xfrm>
          <a:prstGeom prst="rect">
            <a:avLst/>
          </a:prstGeom>
          <a:solidFill>
            <a:srgbClr val="72767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 → flujo normal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2834640" cy="53035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09928"/>
            <a:ext cx="64008" cy="530352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E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0253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Malestar intenso → contención + pausa A4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2834640" cy="53035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68296"/>
            <a:ext cx="64008" cy="530352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A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self_harm_ambiguous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6609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/ actualizar caso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2834640" cy="53035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26664"/>
            <a:ext cx="64008" cy="53035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5409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42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self_harm_explicit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31927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/ actualizar caso urgente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2834640" cy="53035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85032"/>
            <a:ext cx="64008" cy="53035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12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42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imminent_risk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9776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máxima + remarcar urgencia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1005840"/>
            <a:ext cx="329184" cy="329184"/>
          </a:xfrm>
          <a:prstGeom prst="ellipse">
            <a:avLst/>
          </a:prstGeom>
          <a:solidFill>
            <a:srgbClr val="ED4245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58768" y="95097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aplica SafetyClassifier en cada turno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74720" y="1527048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1472184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/ A5 actúan como 2ª barrera si el turno llegó por continuidad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0" y="2048256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58768" y="199339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CrisisCaseStore deduplica: 1 hilo por user+materia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74720" y="2569464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58768" y="251460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crea hilo privado en #alertas-bienestar-catedra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74720" y="3090672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58768" y="303580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de crisis: usuario · materia · canal · timestamps · transcripción completa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474720" y="3611880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58768" y="355701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→ estudiante: contención breve + orientación institucional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474720" y="4133088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58768" y="4078224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elevan a psicología/bienestar de la facultad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474720" y="4654296"/>
            <a:ext cx="329184" cy="329184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4654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58768" y="459943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queda pausado mientras el caso esté open / acknowledged / escalated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Discord: 5 espacios · Matriz agente–ambiente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55448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1554480" cy="73152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" y="138988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públicas @bot o /cmd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20824" y="914400"/>
            <a:ext cx="155448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20824" y="914400"/>
            <a:ext cx="1554480" cy="73152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9" name="Text 7"/>
          <p:cNvSpPr/>
          <p:nvPr/>
        </p:nvSpPr>
        <p:spPr>
          <a:xfrm>
            <a:off x="2093976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7F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estudiante-bot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93976" y="138988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sensible · quiz · seguimiento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21608" y="914400"/>
            <a:ext cx="155448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914400"/>
            <a:ext cx="1554480" cy="73152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A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docente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AA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4760" y="138988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/incorporar-material · /actualizar-catedra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22392" y="914400"/>
            <a:ext cx="155448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22392" y="914400"/>
            <a:ext cx="1554480" cy="73152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95544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docente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95544" y="138988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publica resumen A5 · semanal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23176" y="914400"/>
            <a:ext cx="1554480" cy="86868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23176" y="914400"/>
            <a:ext cx="1554480" cy="7315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21" name="Text 19"/>
          <p:cNvSpPr/>
          <p:nvPr/>
        </p:nvSpPr>
        <p:spPr>
          <a:xfrm>
            <a:off x="7196328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docente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D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96328" y="138988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privado por crisis (CrisisEscalationProtocol)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20240"/>
          <a:ext cx="8503920" cy="288036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005840"/>
                <a:gridCol w="1463040"/>
                <a:gridCol w="1463040"/>
                <a:gridCol w="14630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Canal estud.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Aporte docente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Digest docente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Crisis docente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5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Frontier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alerta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Tutor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EE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B45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Follow-up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Feedback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(P)/B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alerta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A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Curator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P/B/B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2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5BA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OutboundDispatcher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7F2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crisis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2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percibe · (P) = recibe contexto saneado · B = produce borrador · — = prohibición de diseño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Ingreso de código · Canal de aporte docente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204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352044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9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Ingreso de código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código en el mensaje dirigido al bot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Adjunto textual: .py · .java · .c · .js · .txt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~100 KB / 2000 líneas (configurable)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InputExtractor valida tamaño y formato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A1 deriva a A2 con el texto validado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OutputPolicy fija assistance_mode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adjunto está ilegible o no hay código: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 bot pide reenviar — no improvisa análisis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mensaje es público y el código es sensible: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 sugiere continuar por DM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114800" cy="352044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914400"/>
            <a:ext cx="64008" cy="352044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969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A6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pipelines de aporte docente (A6)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389888"/>
            <a:ext cx="3840480" cy="1353312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F2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/incorporar-material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pipeline content → KB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0299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pedagógico: apuntes, bibliografía, PDF, programas, explicaciones.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siempre incorpora aunque mencione fechas.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898648"/>
            <a:ext cx="3840480" cy="1353312"/>
          </a:xfrm>
          <a:prstGeom prst="rect">
            <a:avLst/>
          </a:prstGeom>
          <a:solidFill>
            <a:srgbClr val="31333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/actualizar-catedra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264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pipeline config → Config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5387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estructurados: fechas, reglas, evaluativas activas, modalidad.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estructurado + versionado + validación.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4315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A6 detecta intención admin en /incorporar-material → sugiere /actualizar-catedra sin descartar el aporte.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Privacidad: canal público vs DM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65176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73152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Canal público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y respuestas visibles para todos los lectores del canal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OutputPolicy impide mezclar datos de origen DM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publican datos privados en respuesta pública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sensible → bot sugiere continuar por DM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65176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 (privado 1:1)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confidenciales para todos los demás miembros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Memoria, feedback a docentes y digests no re-publican contenido de DM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solo contacta por DM; si falla → delivery_failed, sin fallback público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 crisis: única excepción explícita y auditada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3931920" cy="105156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03320"/>
            <a:ext cx="64008" cy="105156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794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E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consentida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pide explícitamente compartir un fragmento de DM. A1 valida, OutputPolicy autoriza solo ese fragmento, Dispatcher publica con trazabilidad.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3703320"/>
            <a:ext cx="4114800" cy="1051560"/>
          </a:xfrm>
          <a:prstGeom prst="rect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703320"/>
            <a:ext cx="64008" cy="1051560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794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de crisis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9160" y="4114800"/>
            <a:ext cx="3931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autolesión → el sistema crea hilo privado docente con transcripción. No se publica en canales estudiantiles. Finalidad: seguridad humana, no monitoreo.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42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 A — Restricción pedagógica — código evaluativo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12648"/>
            <a:ext cx="54864" cy="43891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61264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de Programación II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pide: "pasame resuelto el ejercicio 3 del TP1"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InputExtractor valida el bloque de código</a:t>
            </a:r>
            <a:endParaRPr lang="en-US" sz="1150" dirty="0"/>
          </a:p>
        </p:txBody>
      </p:sp>
      <p:pic>
        <p:nvPicPr>
          <p:cNvPr id="6" name="Image 0" descr="/Users/lucasrouco/workspace/ITBA/multiagentes/SMA-Discord-bot/presentacion/diagrams/escenario-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15568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 B — Límite administrativo — caso particular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12648"/>
            <a:ext cx="54864" cy="438912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61264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público de Álgebra II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"¿puedo recuperar si me enfermé?"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detecta regla general + caso personal</a:t>
            </a:r>
            <a:endParaRPr lang="en-US" sz="1150" dirty="0"/>
          </a:p>
        </p:txBody>
      </p:sp>
      <p:pic>
        <p:nvPicPr>
          <p:cNvPr id="6" name="Image 0" descr="/Users/lucasrouco/workspace/ITBA/multiagentes/SMA-Discord-bot/presentacion/diagrams/escenario-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15568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 C — Consulta mixta — teoría + fecha + código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12648"/>
            <a:ext cx="54864" cy="438912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61264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de Programación II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pregunta: qué es AVL, cuándo entrega el TP, y por qué falla inorder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separa intención pedagógica y administrativa</a:t>
            </a:r>
            <a:endParaRPr lang="en-US" sz="1150" dirty="0"/>
          </a:p>
        </p:txBody>
      </p:sp>
      <p:pic>
        <p:nvPicPr>
          <p:cNvPr id="6" name="Image 0" descr="/Users/lucasrouco/workspace/ITBA/multiagentes/SMA-Discord-bot/presentacion/diagrams/escenario-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15568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42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 G — Crisis de bienestar — hilo único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438912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12648"/>
            <a:ext cx="54864" cy="438912"/>
          </a:xfrm>
          <a:prstGeom prst="rect">
            <a:avLst/>
          </a:prstGeom>
          <a:solidFill>
            <a:srgbClr val="ED4245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61264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de Programación II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mensajes de ideación suicida en la misma sesión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1: SafetyClassifier → self_harm_explicit</a:t>
            </a:r>
            <a:endParaRPr lang="en-US" sz="1150" dirty="0"/>
          </a:p>
        </p:txBody>
      </p:sp>
      <p:pic>
        <p:nvPicPr>
          <p:cNvPr id="6" name="Image 0" descr="/Users/lucasrouco/workspace/ITBA/multiagentes/SMA-Discord-bot/presentacion/diagrams/escenario-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15568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Riesgos clave y mitigaciones</a:t>
            </a:r>
            <a:endParaRPr lang="en-US" sz="3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41248"/>
          <a:ext cx="8229600" cy="406908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Mitigación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sin fuente vigente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A2/A3 citan KB/Config; sin fuente A1 reconduce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+ A2 + A3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Mezcla entre materias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SubjectRouter + partición por subject_id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malicioso de datos ajenos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MemoryStore solo entrega la partición del usuario autenticado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Exponer consulta DM en canal público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MemoryStore etiqueta origen · OutputPolicy bloquea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Entregar TP resuelto 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OutputPolicy fija guided_only/refuse_solution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OutputPolicy + 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identificado o inferido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procesa solo aportes voluntarios · anonimato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intrusivo / spam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 · solo DM · cooldown · ventana 2–5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+ Scheduler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ofensivo / odio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no lo almacena; escala a autoridad designada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sin escalamiento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A1+A2+A5 → SafetyClassifier → CrisisEscalationProtocol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+ protocolo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/ ignorar límites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y OutputPolicy rechazan el intento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0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+ OutputPolicy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1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Autoevaluación de la arquitectura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64008" cy="1188720"/>
          </a:xfrm>
          <a:prstGeom prst="rect">
            <a:avLst/>
          </a:prstGeom>
          <a:solidFill>
            <a:srgbClr val="57F28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14984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57F28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149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(conceptual)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0149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F2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Escalabilidad multi-materia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8074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 Agentes parametrizados por subject_id — no se replican. Agregar materias incrementa servidores, stores e indexación, no la cantidad de roles lógicos.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honesto: El límite real es operativo: alta de permisos, indexación y auditoría de múltiples servidores pueden convertirse en cuello de botella.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64008" cy="1188720"/>
          </a:xfrm>
          <a:prstGeom prst="rect">
            <a:avLst/>
          </a:prstGeom>
          <a:solidFill>
            <a:srgbClr val="FEE7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86584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EE7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865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Alta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3865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E7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Robustez / degradación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5234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 Si A2 cae: teoría, práctica y quiz degradan juntos. A3, A4, A5 y A6 siguen disponibles. OutputPolicy y SafetyClassifier deben fallar cerrado.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honesto: A2 concentra el frente pedagógico completo — es el punto de degradación más amplio.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2B2D3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64008" cy="1188720"/>
          </a:xfrm>
          <a:prstGeom prst="rect">
            <a:avLst/>
          </a:prstGeom>
          <a:solidFill>
            <a:srgbClr val="00B0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758184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0B0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581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c/integración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7581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Flexibilidad / extensibilidad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12394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 Agregar un "Agente de Bienestar": (1) A1 incorpora la intención, (2) se define acceso mínimo a datos, (3) OutputPolicy impide publicaciones sensibles, (4) se agrega fila a la matriz.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4988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honesto: El nuevo agente exige definir política de datos sensibles y derivación humana; no basta con agregarlo al catálogo de A1.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474720" cy="3474720"/>
          </a:xfrm>
          <a:prstGeom prst="ellipse">
            <a:avLst/>
          </a:prstGeom>
          <a:solidFill>
            <a:srgbClr val="5865F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65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Garantías centrales del diseño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04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materia nunca consume datos ni memoria de otra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075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entrega una solución evaluable completa en una respuesta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05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/incorporar-material → KB  ·  /actualizar-catedra → Config (pipelines distintos)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134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solo por DM · habilitado por default · opt-out disponible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163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docente: solo aportes voluntarios y agregados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19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autolesión → hilo único privado por user+materia · derivación a psicología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5720" cy="384048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221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OutboundDispatcher es el único componente que escribe en Discord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44568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de soporte a la cursada en Discord — Diseño conceptual multiagente · ITBA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 de soporte a la cursada en Discord</dc:title>
  <dc:subject>PptxGenJS Presentation</dc:subject>
  <dc:creator>ITBA — Sistemas Multiagente 2026</dc:creator>
  <cp:lastModifiedBy>ITBA — Sistemas Multiagente 2026</cp:lastModifiedBy>
  <cp:revision>1</cp:revision>
  <dcterms:created xsi:type="dcterms:W3CDTF">2026-06-24T18:40:02Z</dcterms:created>
  <dcterms:modified xsi:type="dcterms:W3CDTF">2026-06-24T18:40:02Z</dcterms:modified>
</cp:coreProperties>
</file>